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발표 · 대칭키 암호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파일은 대칭키로,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키는 공개키로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랜섬웨어 암호화 구조로 보는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 암·복호화와 키 관리 문제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38912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19050">
            <a:solidFill>
              <a:srgbClr val="FFB83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55701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35295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왜 파일 전체를 공개키로 암호화하지 않을까?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731520"/>
            <a:ext cx="2743200" cy="2743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097280"/>
            <a:ext cx="2011680" cy="20116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1280160" cy="1280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12080" y="39319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2033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208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39319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2033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대칭키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589520" y="393192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0F2033"/>
          </a:solidFill>
          <a:ln w="19050">
            <a:solidFill>
              <a:srgbClr val="FF3D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8952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공개키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36208" y="4206240"/>
            <a:ext cx="137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424928" y="4206240"/>
            <a:ext cx="13716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813816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">
    <ns0:bg>
      <ns0:bgPr>
        <ns1:solidFill>
          <ns1:srgbClr val="0D1B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91440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12236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320040" y="109728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01</ns1:t>
            </ns1:r>
            <ns1:endParaRPr lang="en-US" sz="11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320040" y="411480"/>
            <ns1:ext cx="822960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2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대칭키와 공개키는 무엇이 다를까?</ns1:t>
            </ns1:r>
            <ns1:endParaRPr lang="en-US" sz="2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320040" y="1051560"/>
            <ns1:ext cx="73152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먼저 두 방식의 특성을 분리해서 본다</ns1:t>
            </ns1:r>
            <ns1:endParaRPr lang="en-US" sz="12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365760" y="1417320"/>
            <ns1:ext cx="2743200" cy="3383280"/>
          </ns1:xfrm>
          <ns1:prstGeom prst="roundRect">
            <ns1:avLst>
              <ns1:gd name="adj" fmla="val 5000"/>
            </ns1:avLst>
          </ns1:prstGeom>
          <ns1:solidFill>
            <ns1:srgbClr val="0F2033"/>
          </ns1:solidFill>
          <ns1:ln w="25400">
            <ns1:solidFill>
              <ns1:srgbClr val="00D4FF"/>
            </ns1:solidFill>
            <ns1:prstDash val="solid"/>
          </ns1:ln>
          <ns1:effectLst>
            <ns1:outerShdw sx="100000" sy="100000" kx="0" ky="0" algn="bl" rotWithShape="0" blurRad="127000" dist="38100" dir="8100000">
              <ns1:srgbClr val="000000">
                <ns1:alpha val="30000"/>
              </ns1:srgbClr>
            </ns1:outerShdw>
          </ns1:effectLst>
        </ns0:spPr>
      </ns0:sp>
      <ns0:sp>
        <ns0:nvSpPr>
          <ns0:cNvPr id="7" name="Shape 5"/>
          <ns0:cNvSpPr/>
          <ns0:nvPr/>
        </ns0:nvSpPr>
        <ns0:spPr>
          <ns1:xfrm>
            <ns1:off x="365760" y="1417320"/>
            <ns1:ext cx="2743200" cy="54864"/>
          </ns1:xfrm>
          <ns1:prstGeom prst="rect">
            <ns1:avLst/>
          </ns1:prstGeom>
          <ns1:solidFill>
            <ns1:srgbClr val="00D4FF"/>
          </ns1:solidFill>
          <ns1:ln w="12700">
            <ns1:solidFill>
              <ns1:srgbClr val="00D4FF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548640" y="1508760"/>
            <ns1:ext cx="4572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①</ns1:t>
            </ns1:r>
            <ns1:endParaRPr lang="en-US" sz="13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914400" y="155448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pic>
        <ns0:nvPicPr>
          <ns0:cNvPr id="10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051560" y="1691640"/>
            <ns1:ext cx="457200" cy="457200"/>
          </ns1:xfrm>
          <ns1:prstGeom prst="rect">
            <ns1:avLst/>
          </ns1:prstGeom>
        </ns0:spPr>
      </ns0:pic>
      <ns0:sp>
        <ns0:nvSpPr>
          <ns0:cNvPr id="11" name="Text 8"/>
          <ns0:cNvSpPr/>
          <ns0:nvPr/>
        </ns0:nvSpPr>
        <ns0:spPr>
          <ns1:xfrm>
            <ns1:off x="502920" y="2423160"/>
            <ns1:ext cx="246888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20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</ns1:t>
            </ns1:r>
            <ns1:endParaRPr lang="en-US" sz="2000" dirty="0"/>
          </ns1:p>
        </ns0:txBody>
      </ns0:sp>
      <ns0:sp>
        <ns0:nvSpPr>
          <ns0:cNvPr id="12" name="Text 9"/>
          <ns0:cNvSpPr/>
          <ns0:nvPr/>
        </ns0:nvSpPr>
        <ns0:spPr>
          <ns1:xfrm>
            <ns1:off x="548640" y="2926080"/>
            <ns1:ext cx="2423160" cy="1371600"/>
          </ns1:xfrm>
          <ns1:prstGeom prst="rect">
            <ns1:avLst/>
          </ns1:prstGeom>
          <ns1:noFill/>
          <ns1:ln/>
        </ns0:spPr>
        <ns0:txBody>
          <ns1:bodyPr wrap="square" rtlCol="0" anchor="t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같은 키 하나로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암호화·복호화를 처리한다.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구조가 단순하고 매우 빠르다.</ns1:t>
            </ns1:r>
            <ns1:endParaRPr lang="en-US" sz="1200" dirty="0"/>
          </ns1:p>
        </ns0:txBody>
      </ns0:sp>
      <ns0:sp>
        <ns0:nvSpPr>
          <ns0:cNvPr id="13" name="Shape 10"/>
          <ns0:cNvSpPr/>
          <ns0:nvPr/>
        </ns0:nvSpPr>
        <ns0:spPr>
          <ns1:xfrm>
            <ns1:off x="3246120" y="1417320"/>
            <ns1:ext cx="2743200" cy="3383280"/>
          </ns1:xfrm>
          <ns1:prstGeom prst="roundRect">
            <ns1:avLst>
              <ns1:gd name="adj" fmla="val 5000"/>
            </ns1:avLst>
          </ns1:prstGeom>
          <ns1:solidFill>
            <ns1:srgbClr val="0F2033"/>
          </ns1:solidFill>
          <ns1:ln w="25400">
            <ns1:solidFill>
              <ns1:srgbClr val="FFB830"/>
            </ns1:solidFill>
            <ns1:prstDash val="solid"/>
          </ns1:ln>
          <ns1:effectLst>
            <ns1:outerShdw sx="100000" sy="100000" kx="0" ky="0" algn="bl" rotWithShape="0" blurRad="127000" dist="38100" dir="8100000">
              <ns1:srgbClr val="000000">
                <ns1:alpha val="30000"/>
              </ns1:srgbClr>
            </ns1:outerShdw>
          </ns1:effectLst>
        </ns0:spPr>
      </ns0:sp>
      <ns0:sp>
        <ns0:nvSpPr>
          <ns0:cNvPr id="14" name="Shape 11"/>
          <ns0:cNvSpPr/>
          <ns0:nvPr/>
        </ns0:nvSpPr>
        <ns0:spPr>
          <ns1:xfrm>
            <ns1:off x="3246120" y="1417320"/>
            <ns1:ext cx="2743200" cy="54864"/>
          </ns1:xfrm>
          <ns1:prstGeom prst="rect">
            <ns1:avLst/>
          </ns1:prstGeom>
          <ns1:solidFill>
            <ns1:srgbClr val="FFB830"/>
          </ns1:solidFill>
          <ns1:ln w="12700">
            <ns1:solidFill>
              <ns1:srgbClr val="FFB830"/>
            </ns1:solidFill>
            <ns1:prstDash val="solid"/>
          </ns1:ln>
        </ns0:spPr>
      </ns0:sp>
      <ns0:sp>
        <ns0:nvSpPr>
          <ns0:cNvPr id="15" name="Text 12"/>
          <ns0:cNvSpPr/>
          <ns0:nvPr/>
        </ns0:nvSpPr>
        <ns0:spPr>
          <ns1:xfrm>
            <ns1:off x="3429000" y="1508760"/>
            <ns1:ext cx="4572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②</ns1:t>
            </ns1:r>
            <ns1:endParaRPr lang="en-US" sz="1300" dirty="0"/>
          </ns1:p>
        </ns0:txBody>
      </ns0:sp>
      <ns0:sp>
        <ns0:nvSpPr>
          <ns0:cNvPr id="16" name="Shape 13"/>
          <ns0:cNvSpPr/>
          <ns0:nvPr/>
        </ns0:nvSpPr>
        <ns0:spPr>
          <ns1:xfrm>
            <ns1:off x="3794760" y="155448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pic>
        <ns0:nvPicPr>
          <ns0:cNvPr id="17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3931920" y="1691640"/>
            <ns1:ext cx="457200" cy="457200"/>
          </ns1:xfrm>
          <ns1:prstGeom prst="rect">
            <ns1:avLst/>
          </ns1:prstGeom>
        </ns0:spPr>
      </ns0:pic>
      <ns0:sp>
        <ns0:nvSpPr>
          <ns0:cNvPr id="18" name="Text 14"/>
          <ns0:cNvSpPr/>
          <ns0:nvPr/>
        </ns0:nvSpPr>
        <ns0:spPr>
          <ns1:xfrm>
            <ns1:off x="3383280" y="2423160"/>
            <ns1:ext cx="246888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2000" b="1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공개키</ns1:t>
            </ns1:r>
            <ns1:endParaRPr lang="en-US" sz="2000" dirty="0"/>
          </ns1:p>
        </ns0:txBody>
      </ns0:sp>
      <ns0:sp>
        <ns0:nvSpPr>
          <ns0:cNvPr id="19" name="Text 15"/>
          <ns0:cNvSpPr/>
          <ns0:nvPr/>
        </ns0:nvSpPr>
        <ns0:spPr>
          <ns1:xfrm>
            <ns1:off x="3429000" y="2926080"/>
            <ns1:ext cx="2423160" cy="1371600"/>
          </ns1:xfrm>
          <ns1:prstGeom prst="rect">
            <ns1:avLst/>
          </ns1:prstGeom>
          <ns1:noFill/>
          <ns1:ln/>
        </ns0:spPr>
        <ns0:txBody>
          <ns1:bodyPr wrap="square" rtlCol="0" anchor="t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공개키로 잠그고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개인키로만 풀 수 있다.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키 전달과 접근 통제에 유리하다.</ns1:t>
            </ns1:r>
            <ns1:endParaRPr lang="en-US" sz="1200" dirty="0"/>
          </ns1:p>
        </ns0:txBody>
      </ns0:sp>
      <ns0:sp>
        <ns0:nvSpPr>
          <ns0:cNvPr id="20" name="Shape 16"/>
          <ns0:cNvSpPr/>
          <ns0:nvPr/>
        </ns0:nvSpPr>
        <ns0:spPr>
          <ns1:xfrm>
            <ns1:off x="6126480" y="1417320"/>
            <ns1:ext cx="2743200" cy="3383280"/>
          </ns1:xfrm>
          <ns1:prstGeom prst="roundRect">
            <ns1:avLst>
              <ns1:gd name="adj" fmla="val 5000"/>
            </ns1:avLst>
          </ns1:prstGeom>
          <ns1:solidFill>
            <ns1:srgbClr val="0F2033"/>
          </ns1:solidFill>
          <ns1:ln w="25400">
            <ns1:solidFill>
              <ns1:srgbClr val="FF3D8B"/>
            </ns1:solidFill>
            <ns1:prstDash val="solid"/>
          </ns1:ln>
          <ns1:effectLst>
            <ns1:outerShdw sx="100000" sy="100000" kx="0" ky="0" algn="bl" rotWithShape="0" blurRad="127000" dist="38100" dir="8100000">
              <ns1:srgbClr val="000000">
                <ns1:alpha val="30000"/>
              </ns1:srgbClr>
            </ns1:outerShdw>
          </ns1:effectLst>
        </ns0:spPr>
      </ns0:sp>
      <ns0:sp>
        <ns0:nvSpPr>
          <ns0:cNvPr id="21" name="Shape 17"/>
          <ns0:cNvSpPr/>
          <ns0:nvPr/>
        </ns0:nvSpPr>
        <ns0:spPr>
          <ns1:xfrm>
            <ns1:off x="6126480" y="1417320"/>
            <ns1:ext cx="2743200" cy="54864"/>
          </ns1:xfrm>
          <ns1:prstGeom prst="rect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22" name="Text 18"/>
          <ns0:cNvSpPr/>
          <ns0:nvPr/>
        </ns0:nvSpPr>
        <ns0:spPr>
          <ns1:xfrm>
            <ns1:off x="6309360" y="1508760"/>
            <ns1:ext cx="4572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③</ns1:t>
            </ns1:r>
            <ns1:endParaRPr lang="en-US" sz="1300" dirty="0"/>
          </ns1:p>
        </ns0:txBody>
      </ns0:sp>
      <ns0:sp>
        <ns0:nvSpPr>
          <ns0:cNvPr id="23" name="Shape 19"/>
          <ns0:cNvSpPr/>
          <ns0:nvPr/>
        </ns0:nvSpPr>
        <ns0:spPr>
          <ns1:xfrm>
            <ns1:off x="6675120" y="155448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pic>
        <ns0:nvPicPr>
          <ns0:cNvPr id="24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812280" y="1691640"/>
            <ns1:ext cx="457200" cy="457200"/>
          </ns1:xfrm>
          <ns1:prstGeom prst="rect">
            <ns1:avLst/>
          </ns1:prstGeom>
        </ns0:spPr>
      </ns0:pic>
      <ns0:sp>
        <ns0:nvSpPr>
          <ns0:cNvPr id="25" name="Text 20"/>
          <ns0:cNvSpPr/>
          <ns0:nvPr/>
        </ns0:nvSpPr>
        <ns0:spPr>
          <ns1:xfrm>
            <ns1:off x="6263640" y="2423160"/>
            <ns1:ext cx="246888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20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비교 포인트</ns1:t>
            </ns1:r>
            <ns1:endParaRPr lang="en-US" sz="2000" dirty="0"/>
          </ns1:p>
        </ns0:txBody>
      </ns0:sp>
      <ns0:sp>
        <ns0:nvSpPr>
          <ns0:cNvPr id="26" name="Text 21"/>
          <ns0:cNvSpPr/>
          <ns0:nvPr/>
        </ns0:nvSpPr>
        <ns0:spPr>
          <ns1:xfrm>
            <ns1:off x="6309360" y="2926080"/>
            <ns1:ext cx="2423160" cy="1371600"/>
          </ns1:xfrm>
          <ns1:prstGeom prst="rect">
            <ns1:avLst/>
          </ns1:prstGeom>
          <ns1:noFill/>
          <ns1:ln/>
        </ns0:spPr>
        <ns0:txBody>
          <ns1:bodyPr wrap="square" rtlCol="0" anchor="t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대칭키는 같은 키로 처리하고,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공개키는 키 쌍(공개키·개인키)을 사용한다.</ns1:t>
            </ns1:r>
            <ns1:endParaRPr lang="en-US" sz="1200" dirty="0"/>
          </ns1:p>
          <ns1:p>
            <ns1:pPr algn="ctr"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구조와 용도가 다르다.</ns1:t>
            </ns1:r>
            <ns1:endParaRPr lang="en-US" sz="1200" dirty="0"/>
          </ns1:p>
        </ns0:txBody>
      </ns0:sp>
      <ns0:sp>
        <ns0:nvSpPr>
          <ns0:cNvPr id="27" name="Shape 22"/>
          <ns0:cNvSpPr/>
          <ns0:nvPr/>
        </ns0:nvSpPr>
        <ns0:spPr>
          <ns1:xfrm>
            <ns1:off x="320040" y="4663440"/>
            <ns1:ext cx="8503920" cy="274320"/>
          </ns1:xfrm>
          <ns1:prstGeom prst="roundRect">
            <ns1:avLst>
              <ns1:gd name="adj" fmla="val 20000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28" name="Text 23"/>
          <ns0:cNvSpPr/>
          <ns0:nvPr/>
        </ns0:nvSpPr>
        <ns0:spPr>
          <ns1:xfrm>
            <ns1:off x="320040" y="4663440"/>
            <ns1:ext cx="8503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핵심 정리 : 대칭키와 공개키는 설계 목적이 서로 다르다.</ns1:t>
            </ns1:r>
            <ns1:endParaRPr lang="en-US" sz="1050" dirty="0"/>
          </ns1:p>
        </ns0:txBody>
      </ns0:sp>
      <ns0:sp>
        <ns0:nvSpPr>
          <ns0:cNvPr id="29" name="Text 24"/>
          <ns0:cNvSpPr/>
          <ns0:nvPr/>
        </ns0:nvSpPr>
        <ns0:spPr>
          <ns1:xfrm>
            <ns1:off x="8138160" y="4892040"/>
            <ns1:ext cx="82296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 / 7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3">
    <ns0:bg>
      <ns0:bgPr>
        <ns1:solidFill>
          <ns1:srgbClr val="0D1B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91440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12236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320040" y="109728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02</ns1:t>
            </ns1:r>
            <ns1:endParaRPr lang="en-US" sz="11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320040" y="411480"/>
            <ns1:ext cx="822960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2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1단계: 파일은 대칭키로 암호화</ns1:t>
            </ns1:r>
            <ns1:endParaRPr lang="en-US" sz="2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320040" y="1051560"/>
            <ns1:ext cx="77724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대상은 문서·사진 같은 실제 데이터</ns1:t>
            </ns1:r>
            <ns1:endParaRPr lang="en-US" sz="12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274320" y="1417320"/>
            <ns1:ext cx="4114800" cy="1325880"/>
          </ns1:xfrm>
          <ns1:prstGeom prst="roundRect">
            <ns1:avLst>
              <ns1:gd name="adj" fmla="val 6897"/>
            </ns1:avLst>
          </ns1:prstGeom>
          <ns1:solidFill>
            <ns1:srgbClr val="0F2033"/>
          </ns1:solidFill>
          <ns1:ln w="12700">
            <ns1:solidFill>
              <ns1:srgbClr val="1E4060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411480" y="1508760"/>
            <ns1:ext cx="411480" cy="411480"/>
          </ns1:xfrm>
          <ns1:prstGeom prst="ellipse">
            <ns1:avLst/>
          </ns1:prstGeom>
          <ns1:solidFill>
            <ns1:srgbClr val="007A99"/>
          </ns1:solidFill>
          <ns1:ln w="12700">
            <ns1:solidFill>
              <ns1:srgbClr val="00D4FF"/>
            </ns1:solidFill>
            <ns1:prstDash val="solid"/>
          </ns1:ln>
        </ns0:spPr>
      </ns0:sp>
      <ns0:pic>
        <ns0:nvPicPr>
          <ns0:cNvPr id="8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75488" y="1572768"/>
            <ns1:ext cx="283464" cy="283464"/>
          </ns1:xfrm>
          <ns1:prstGeom prst="rect">
            <ns1:avLst/>
          </ns1:prstGeom>
        </ns0:spPr>
      </ns0:pic>
      <ns0:sp>
        <ns0:nvSpPr>
          <ns0:cNvPr id="9" name="Text 6"/>
          <ns0:cNvSpPr/>
          <ns0:nvPr/>
        </ns0:nvSpPr>
        <ns0:spPr>
          <ns1:xfrm>
            <ns1:off x="932688" y="1481328"/>
            <ns1:ext cx="33375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같은 키로 암호화·복호화</ns1:t>
            </ns1:r>
            <ns1:endParaRPr lang="en-US" sz="1250" dirty="0"/>
          </ns1:p>
        </ns0:txBody>
      </ns0:sp>
      <ns0:sp>
        <ns0:nvSpPr>
          <ns0:cNvPr id="10" name="Text 7"/>
          <ns0:cNvSpPr/>
          <ns0:nvPr/>
        </ns0:nvSpPr>
        <ns0:spPr>
          <ns1:xfrm>
            <ns1:off x="932688" y="1874520"/>
            <ns1:ext cx="3337560" cy="74980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파일이 클수록 속도가 중요</ns1:t>
            </ns1:r>
            <ns1:endParaRPr lang="en-US" sz="1150" dirty="0"/>
          </ns1:p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그래서 대칭키를 사용</ns1:t>
            </ns1:r>
            <ns1:endParaRPr lang="en-US" sz="1150" dirty="0"/>
          </ns1:p>
        </ns0:txBody>
      </ns0:sp>
      <ns0:sp>
        <ns0:nvSpPr>
          <ns0:cNvPr id="11" name="Shape 8"/>
          <ns0:cNvSpPr/>
          <ns0:nvPr/>
        </ns0:nvSpPr>
        <ns0:spPr>
          <ns1:xfrm>
            <ns1:off x="4572000" y="1417320"/>
            <ns1:ext cx="4251960" cy="1325880"/>
          </ns1:xfrm>
          <ns1:prstGeom prst="roundRect">
            <ns1:avLst>
              <ns1:gd name="adj" fmla="val 6897"/>
            </ns1:avLst>
          </ns1:prstGeom>
          <ns1:solidFill>
            <ns1:srgbClr val="005A3C"/>
          </ns1:solidFill>
          <ns1:ln w="19050">
            <ns1:solidFill>
              <ns1:srgbClr val="00E5A0"/>
            </ns1:solidFill>
            <ns1:prstDash val="solid"/>
          </ns1:ln>
        </ns0:spPr>
      </ns0:sp>
      <ns0:sp>
        <ns0:nvSpPr>
          <ns0:cNvPr id="12" name="Text 9"/>
          <ns0:cNvSpPr/>
          <ns0:nvPr/>
        </ns0:nvSpPr>
        <ns0:spPr>
          <ns1:xfrm>
            <ns1:off x="4754880" y="1508760"/>
            <ns1:ext cx="9144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핵심</ns1:t>
            </ns1:r>
            <ns1:endParaRPr lang="en-US" sz="110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4754880" y="1810512"/>
            <ns1:ext cx="3931920" cy="8229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FFFFFF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 처리: 대칭키</ns1:t>
            </ns1:r>
            <ns1:endParaRPr lang="en-US" sz="1200" dirty="0"/>
          </ns1:p>
          <ns1:p>
            <ns1:pPr indent="0" marL="0">
              <ns1:buNone/>
            </ns1:pPr>
            <ns1:r>
              <ns1:rPr lang="en-US" sz="1200" dirty="0">
                <ns1:solidFill>
                  <ns1:srgbClr val="FFFFFF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이유: 빠르고 가볍다</ns1:t>
            </ns1:r>
            <ns1:endParaRPr lang="en-US" sz="1200" dirty="0"/>
          </ns1:p>
        </ns0:txBody>
      </ns0:sp>
      <ns0:sp>
        <ns0:nvSpPr>
          <ns0:cNvPr id="14" name="Shape 11"/>
          <ns0:cNvSpPr/>
          <ns0:nvPr/>
        </ns0:nvSpPr>
        <ns0:spPr>
          <ns1:xfrm>
            <ns1:off x="274320" y="2834640"/>
            <ns1:ext cx="2011680" cy="1097280"/>
          </ns1:xfrm>
          <ns1:prstGeom prst="roundRect">
            <ns1:avLst>
              <ns1:gd name="adj" fmla="val 10000"/>
            </ns1:avLst>
          </ns1:prstGeom>
          <ns1:solidFill>
            <ns1:srgbClr val="0F2033"/>
          </ns1:solidFill>
          <ns1:ln w="25400">
            <ns1:solidFill>
              <ns1:srgbClr val="00D4FF"/>
            </ns1:solidFill>
            <ns1:prstDash val="solid"/>
          </ns1:ln>
        </ns0:spPr>
      </ns0:sp>
      <ns0:pic>
        <ns0:nvPicPr>
          <ns0:cNvPr id="15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658368" y="2944368"/>
            <ns1:ext cx="347472" cy="347472"/>
          </ns1:xfrm>
          <ns1:prstGeom prst="rect">
            <ns1:avLst/>
          </ns1:prstGeom>
        </ns0:spPr>
      </ns0:pic>
      <ns0:sp>
        <ns0:nvSpPr>
          <ns0:cNvPr id="16" name="Text 12"/>
          <ns0:cNvSpPr/>
          <ns0:nvPr/>
        </ns0:nvSpPr>
        <ns0:spPr>
          <ns1:xfrm>
            <ns1:off x="274320" y="3337560"/>
            <ns1:ext cx="20116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원본 파일</ns1:t>
            </ns1:r>
            <ns1:endParaRPr lang="en-US" sz="1300" dirty="0"/>
          </ns1:p>
        </ns0:txBody>
      </ns0:sp>
      <ns0:sp>
        <ns0:nvSpPr>
          <ns0:cNvPr id="17" name="Text 13"/>
          <ns0:cNvSpPr/>
          <ns0:nvPr/>
        </ns0:nvSpPr>
        <ns0:spPr>
          <ns1:xfrm>
            <ns1:off x="274320" y="3584448"/>
            <ns1:ext cx="201168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문서 / 사진 / 코드</ns1:t>
            </ns1:r>
            <ns1:endParaRPr lang="en-US" sz="1000" dirty="0"/>
          </ns1:p>
        </ns0:txBody>
      </ns0:sp>
      <ns0:sp>
        <ns0:nvSpPr>
          <ns0:cNvPr id="18" name="Shape 14"/>
          <ns0:cNvSpPr/>
          <ns0:nvPr/>
        </ns0:nvSpPr>
        <ns0:spPr>
          <ns1:xfrm>
            <ns1:off x="2331720" y="3383280"/>
            <ns1:ext cx="822960" cy="0"/>
          </ns1:xfrm>
          <ns1:prstGeom prst="line">
            <ns1:avLst/>
          </ns1:prstGeom>
          <ns1:noFill/>
          <ns1:ln w="31750">
            <ns1:solidFill>
              <ns1:srgbClr val="00D4FF"/>
            </ns1:solidFill>
            <ns1:prstDash val="solid"/>
            <ns1:tailEnd type="triangle"/>
          </ns1:ln>
        </ns0:spPr>
      </ns0:sp>
      <ns0:sp>
        <ns0:nvSpPr>
          <ns0:cNvPr id="19" name="Text 15"/>
          <ns0:cNvSpPr/>
          <ns0:nvPr/>
        </ns0:nvSpPr>
        <ns0:spPr>
          <ns1:xfrm>
            <ns1:off x="2377440" y="3063240"/>
            <ns1:ext cx="777240" cy="4114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</ns1:t>
            </ns1:r>
            <ns1:endParaRPr lang="en-US" sz="900" dirty="0"/>
          </ns1:p>
          <ns1:p>
            <ns1:pPr algn="ctr" indent="0" marL="0">
              <ns1:buNone/>
            </ns1:pPr>
            <ns1:r>
              <ns1:rPr lang="en-US" sz="900" i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암호화</ns1:t>
            </ns1:r>
            <ns1:endParaRPr lang="en-US" sz="900" dirty="0"/>
          </ns1:p>
        </ns0:txBody>
      </ns0:sp>
      <ns0:sp>
        <ns0:nvSpPr>
          <ns0:cNvPr id="20" name="Shape 16"/>
          <ns0:cNvSpPr/>
          <ns0:nvPr/>
        </ns0:nvSpPr>
        <ns0:spPr>
          <ns1:xfrm>
            <ns1:off x="3200400" y="2834640"/>
            <ns1:ext cx="2011680" cy="1097280"/>
          </ns1:xfrm>
          <ns1:prstGeom prst="roundRect">
            <ns1:avLst>
              <ns1:gd name="adj" fmla="val 10000"/>
            </ns1:avLst>
          </ns1:prstGeom>
          <ns1:solidFill>
            <ns1:srgbClr val="003D2A"/>
          </ns1:solidFill>
          <ns1:ln w="31750">
            <ns1:solidFill>
              <ns1:srgbClr val="00E5A0"/>
            </ns1:solidFill>
            <ns1:prstDash val="solid"/>
          </ns1:ln>
        </ns0:spPr>
      </ns0:sp>
      <ns0:pic>
        <ns0:nvPicPr>
          <ns0:cNvPr id="21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3566160" y="2926080"/>
            <ns1:ext cx="365760" cy="365760"/>
          </ns1:xfrm>
          <ns1:prstGeom prst="rect">
            <ns1:avLst/>
          </ns1:prstGeom>
        </ns0:spPr>
      </ns0:pic>
      <ns0:sp>
        <ns0:nvSpPr>
          <ns0:cNvPr id="22" name="Text 17"/>
          <ns0:cNvSpPr/>
          <ns0:nvPr/>
        </ns0:nvSpPr>
        <ns0:spPr>
          <ns1:xfrm>
            <ns1:off x="3200400" y="3337560"/>
            <ns1:ext cx="20116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</ns1:t>
            </ns1:r>
            <ns1:endParaRPr lang="en-US" sz="1500" dirty="0"/>
          </ns1:p>
        </ns0:txBody>
      </ns0:sp>
      <ns0:sp>
        <ns0:nvSpPr>
          <ns0:cNvPr id="23" name="Text 18"/>
          <ns0:cNvSpPr/>
          <ns0:nvPr/>
        </ns0:nvSpPr>
        <ns0:spPr>
          <ns1:xfrm>
            <ns1:off x="3200400" y="3584448"/>
            <ns1:ext cx="201168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빠른 암호화</ns1:t>
            </ns1:r>
            <ns1:endParaRPr lang="en-US" sz="1000" dirty="0"/>
          </ns1:p>
        </ns0:txBody>
      </ns0:sp>
      <ns0:sp>
        <ns0:nvSpPr>
          <ns0:cNvPr id="24" name="Shape 19"/>
          <ns0:cNvSpPr/>
          <ns0:nvPr/>
        </ns0:nvSpPr>
        <ns0:spPr>
          <ns1:xfrm>
            <ns1:off x="5257800" y="3383280"/>
            <ns1:ext cx="822960" cy="0"/>
          </ns1:xfrm>
          <ns1:prstGeom prst="line">
            <ns1:avLst/>
          </ns1:prstGeom>
          <ns1:noFill/>
          <ns1:ln w="31750">
            <ns1:solidFill>
              <ns1:srgbClr val="FF3D8B"/>
            </ns1:solidFill>
            <ns1:prstDash val="solid"/>
            <ns1:tailEnd type="triangle"/>
          </ns1:ln>
        </ns0:spPr>
      </ns0:sp>
      <ns0:sp>
        <ns0:nvSpPr>
          <ns0:cNvPr id="25" name="Shape 20"/>
          <ns0:cNvSpPr/>
          <ns0:nvPr/>
        </ns0:nvSpPr>
        <ns0:spPr>
          <ns1:xfrm>
            <ns1:off x="6126480" y="2834640"/>
            <ns1:ext cx="2011680" cy="1097280"/>
          </ns1:xfrm>
          <ns1:prstGeom prst="roundRect">
            <ns1:avLst>
              <ns1:gd name="adj" fmla="val 10000"/>
            </ns1:avLst>
          </ns1:prstGeom>
          <ns1:solidFill>
            <ns1:srgbClr val="0F2033"/>
          </ns1:solidFill>
          <ns1:ln w="25400">
            <ns1:solidFill>
              <ns1:srgbClr val="FF3D8B"/>
            </ns1:solidFill>
            <ns1:prstDash val="solid"/>
          </ns1:ln>
        </ns0:spPr>
      </ns0:sp>
      <ns0:pic>
        <ns0:nvPicPr>
          <ns0:cNvPr id="26" name="Image 3" descr="preencoded.png">    </ns0:cNvPr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6492240" y="2926080"/>
            <ns1:ext cx="365760" cy="365760"/>
          </ns1:xfrm>
          <ns1:prstGeom prst="rect">
            <ns1:avLst/>
          </ns1:prstGeom>
        </ns0:spPr>
      </ns0:pic>
      <ns0:sp>
        <ns0:nvSpPr>
          <ns0:cNvPr id="27" name="Text 21"/>
          <ns0:cNvSpPr/>
          <ns0:nvPr/>
        </ns0:nvSpPr>
        <ns0:spPr>
          <ns1:xfrm>
            <ns1:off x="6126480" y="3337560"/>
            <ns1:ext cx="20116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암호문 파일</ns1:t>
            </ns1:r>
            <ns1:endParaRPr lang="en-US" sz="1300" dirty="0"/>
          </ns1:p>
        </ns0:txBody>
      </ns0:sp>
      <ns0:sp>
        <ns0:nvSpPr>
          <ns0:cNvPr id="28" name="Text 22"/>
          <ns0:cNvSpPr/>
          <ns0:nvPr/>
        </ns0:nvSpPr>
        <ns0:spPr>
          <ns1:xfrm>
            <ns1:off x="6126480" y="3584448"/>
            <ns1:ext cx="201168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키 없이는 읽기 어려움</ns1:t>
            </ns1:r>
            <ns1:endParaRPr lang="en-US" sz="1000" dirty="0"/>
          </ns1:p>
        </ns0:txBody>
      </ns0:sp>
      <ns0:sp>
        <ns0:nvSpPr>
          <ns0:cNvPr id="29" name="Text 23"/>
          <ns0:cNvSpPr/>
          <ns0:nvPr/>
        </ns0:nvSpPr>
        <ns0:spPr>
          <ns1:xfrm>
            <ns1:off x="320040" y="4892040"/>
            <ns1:ext cx="457200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800" i="1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 = 빠른 파일 암호화</ns1:t>
            </ns1:r>
            <ns1:endParaRPr lang="en-US" sz="800" dirty="0"/>
          </ns1:p>
        </ns0:txBody>
      </ns0:sp>
      <ns0:sp>
        <ns0:nvSpPr>
          <ns0:cNvPr id="30" name="Text 24"/>
          <ns0:cNvSpPr/>
          <ns0:nvPr/>
        </ns0:nvSpPr>
        <ns0:spPr>
          <ns1:xfrm>
            <ns1:off x="8138160" y="4892040"/>
            <ns1:ext cx="82296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 / 7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 name="Slide 4">
    <ns0:bg>
      <ns0:bgPr>
        <ns1:solidFill>
          <ns1:srgbClr val="0D1B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91440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12236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320040" y="109728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03</ns1:t>
            </ns1:r>
            <ns1:endParaRPr lang="en-US" sz="11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320040" y="411480"/>
            <ns1:ext cx="822960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2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왜 대칭키인가: 속도 때문</ns1:t>
            </ns1:r>
            <ns1:endParaRPr lang="en-US" sz="2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320040" y="1051560"/>
            <ns1:ext cx="77724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 수가 많으면 “안전함”만큼 “처리 속도”도 중요해진다</ns1:t>
            </ns1:r>
            <ns1:endParaRPr lang="en-US" sz="12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320040" y="1463040"/>
            <ns1:ext cx="4023360" cy="3017520"/>
          </ns1:xfrm>
          <ns1:prstGeom prst="roundRect">
            <ns1:avLst>
              <ns1:gd name="adj" fmla="val 4545"/>
            </ns1:avLst>
          </ns1:prstGeom>
          <ns1:solidFill>
            <ns1:srgbClr val="000000"/>
          </ns1:solidFill>
          <ns1:ln w="25400">
            <ns1:solidFill>
              <ns1:srgbClr val="00E5A0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320040" y="1536192"/>
            <ns1:ext cx="402336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8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 암호</ns1:t>
            </ns1:r>
            <ns1:endParaRPr lang="en-US" sz="18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320040" y="1920240"/>
            <ns1:ext cx="40233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/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548640" y="2331720"/>
            <ns1:ext cx="3566160" cy="41148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E4060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548640" y="2331720"/>
            <ns1:ext cx="3291840" cy="411480"/>
          </ns1:xfrm>
          <ns1:prstGeom prst="rect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1" name="Text 9"/>
          <ns0:cNvSpPr/>
          <ns0:nvPr/>
        </ns0:nvSpPr>
        <ns0:spPr>
          <ns1:xfrm>
            <ns1:off x="594360" y="2350008"/>
            <ns1:ext cx="347472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빠름 ████████████████████</ns1:t>
            </ns1:r>
            <ns1:endParaRPr lang="en-US" sz="11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548640" y="2907792"/>
            <ns1:ext cx="164592" cy="164592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777240" y="288036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비교적 단순한 연산 구조</ns1:t>
            </ns1:r>
            <ns1:endParaRPr lang="en-US" sz="1200" dirty="0"/>
          </ns1:p>
        </ns0:txBody>
      </ns0:sp>
      <ns0:sp>
        <ns0:nvSpPr>
          <ns0:cNvPr id="14" name="Shape 12"/>
          <ns0:cNvSpPr/>
          <ns0:nvPr/>
        </ns0:nvSpPr>
        <ns0:spPr>
          <ns1:xfrm>
            <ns1:off x="548640" y="3319272"/>
            <ns1:ext cx="164592" cy="164592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7240" y="329184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대용량 데이터 처리에 유리</ns1:t>
            </ns1:r>
            <ns1:endParaRPr lang="en-US" sz="12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548640" y="3730752"/>
            <ns1:ext cx="164592" cy="164592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7240" y="370332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수천 개 파일도 수초 내 암호화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548640" y="4142232"/>
            <ns1:ext cx="164592" cy="164592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777240" y="411480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랜섬웨어의 주요 암호화 수단</ns1:t>
            </ns1:r>
            <ns1:endParaRPr lang="en-US" sz="120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4800600" y="1463040"/>
            <ns1:ext cx="4023360" cy="3017520"/>
          </ns1:xfrm>
          <ns1:prstGeom prst="roundRect">
            <ns1:avLst>
              <ns1:gd name="adj" fmla="val 4545"/>
            </ns1:avLst>
          </ns1:prstGeom>
          <ns1:solidFill>
            <ns1:srgbClr val="000000"/>
          </ns1:solidFill>
          <ns1:ln w="25400">
            <ns1:solidFill>
              <ns1:srgbClr val="FF3D8B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4800600" y="1536192"/>
            <ns1:ext cx="402336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8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공개키 암호</ns1:t>
            </ns1:r>
            <ns1:endParaRPr lang="en-US" sz="180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4800600" y="1920240"/>
            <ns1:ext cx="40233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/>
            </ns1:r>
            <ns1:endParaRPr lang="en-US" sz="12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5029200" y="2331720"/>
            <ns1:ext cx="3566160" cy="41148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E4060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5029200" y="2331720"/>
            <ns1:ext cx="1097280" cy="411480"/>
          </ns1:xfrm>
          <ns1:prstGeom prst="rect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5074920" y="2350008"/>
            <ns1:ext cx="33832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상대적으로 느림 ████</ns1:t>
            </ns1:r>
            <ns1:endParaRPr lang="en-US" sz="1100" dirty="0"/>
          </ns1:p>
        </ns0:txBody>
      </ns0:sp>
      <ns0:sp>
        <ns0:nvSpPr>
          <ns0:cNvPr id="26" name="Shape 24"/>
          <ns0:cNvSpPr/>
          <ns0:nvPr/>
        </ns0:nvSpPr>
        <ns0:spPr>
          <ns1:xfrm>
            <ns1:off x="5029200" y="2907792"/>
            <ns1:ext cx="164592" cy="164592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27" name="Text 25"/>
          <ns0:cNvSpPr/>
          <ns0:nvPr/>
        </ns0:nvSpPr>
        <ns0:spPr>
          <ns1:xfrm>
            <ns1:off x="5257800" y="288036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수학적으로 복잡한 연산 필요</ns1:t>
            </ns1:r>
            <ns1:endParaRPr lang="en-US" sz="120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5029200" y="3319272"/>
            <ns1:ext cx="164592" cy="164592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5257800" y="329184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소량 데이터(키)에는 충분히 적합</ns1:t>
            </ns1:r>
            <ns1:endParaRPr lang="en-US" sz="12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5029200" y="3730752"/>
            <ns1:ext cx="164592" cy="164592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5257800" y="370332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대용량 파일에는 속도가 너무 느림</ns1:t>
            </ns1:r>
            <ns1:endParaRPr lang="en-US" sz="120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5029200" y="4142232"/>
            <ns1:ext cx="164592" cy="164592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33" name="Text 31"/>
          <ns0:cNvSpPr/>
          <ns0:nvPr/>
        </ns0:nvSpPr>
        <ns0:spPr>
          <ns1:xfrm>
            <ns1:off x="5257800" y="4114800"/>
            <ns1:ext cx="33832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키 보호 목적으로만 사용</ns1:t>
            </ns1:r>
            <ns1:endParaRPr lang="en-US" sz="12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4251960" y="2468880"/>
            <ns1:ext cx="640080" cy="640080"/>
          </ns1:xfrm>
          <ns1:prstGeom prst="ellipse">
            <ns1:avLst/>
          </ns1:prstGeom>
          <ns1:solidFill>
            <ns1:srgbClr val="112236"/>
          </ns1:solidFill>
          <ns1:ln w="25400">
            <ns1:solidFill>
              <ns1:srgbClr val="FFB830"/>
            </ns1:solidFill>
            <ns1:prstDash val="solid"/>
          </ns1:ln>
        </ns0:spPr>
      </ns0:sp>
      <ns0:sp>
        <ns0:nvSpPr>
          <ns0:cNvPr id="35" name="Text 33"/>
          <ns0:cNvSpPr/>
          <ns0:nvPr/>
        </ns0:nvSpPr>
        <ns0:spPr>
          <ns1:xfrm>
            <ns1:off x="4251960" y="2468880"/>
            <ns1:ext cx="640080" cy="6400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VS</ns1:t>
            </ns1:r>
            <ns1:endParaRPr lang="en-US" sz="12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320040" y="4663440"/>
            <ns1:ext cx="8503920" cy="274320"/>
          </ns1:xfrm>
          <ns1:prstGeom prst="roundRect">
            <ns1:avLst>
              <ns1:gd name="adj" fmla="val 20000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320040" y="4663440"/>
            <ns1:ext cx="8503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"파일 전체"는 빠른 대칭키가 담당 / 공개키는 "작은 키를 잠그는 용도"에만 사용한다.</ns1:t>
            </ns1:r>
            <ns1:endParaRPr lang="en-US" sz="10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8138160" y="4892040"/>
            <ns1:ext cx="82296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 / 7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5">
    <ns0:bg>
      <ns0:bgPr>
        <ns1:solidFill>
          <ns1:srgbClr val="0D1B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91440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12236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320040" y="109728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04</ns1:t>
            </ns1:r>
            <ns1:endParaRPr lang="en-US" sz="11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320040" y="411480"/>
            <ns1:ext cx="822960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2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2단계: 키를 공개키로 잠근다</ns1:t>
            </ns1:r>
            <ns1:endParaRPr lang="en-US" sz="2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320040" y="1051560"/>
            <ns1:ext cx="77724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파일이 아니라 대칭키를 보호하는 단계</ns1:t>
            </ns1:r>
            <ns1:endParaRPr lang="en-US" sz="12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320040" y="1417320"/>
            <ns1:ext cx="4572000" cy="960120"/>
          </ns1:xfrm>
          <ns1:prstGeom prst="roundRect">
            <ns1:avLst>
              <ns1:gd name="adj" fmla="val 11429"/>
            </ns1:avLst>
          </ns1:prstGeom>
          <ns1:solidFill>
            <ns1:srgbClr val="0F2033"/>
          </ns1:solidFill>
          <ns1:ln w="19050">
            <ns1:solidFill>
              <ns1:srgbClr val="00D4FF"/>
            </ns1:solidFill>
            <ns1:prstDash val="solid"/>
          </ns1:ln>
        </ns0:spPr>
      </ns0:sp>
      <ns0:sp>
        <ns0:nvSpPr>
          <ns0:cNvPr id="7" name="Shape 5"/>
          <ns0:cNvSpPr/>
          <ns0:nvPr/>
        </ns0:nvSpPr>
        <ns0:spPr>
          <ns1:xfrm>
            <ns1:off x="457200" y="1536192"/>
            <ns1:ext cx="457200" cy="457200"/>
          </ns1:xfrm>
          <ns1:prstGeom prst="ellipse">
            <ns1:avLst/>
          </ns1:prstGeom>
          <ns1:solidFill>
            <ns1:srgbClr val="00D4FF"/>
          </ns1:solidFill>
          <ns1:ln w="12700">
            <ns1:solidFill>
              <ns1:srgbClr val="00D4FF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457200" y="1536192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1400" dirty="0"/>
          </ns1:p>
        </ns0:txBody>
      </ns0:sp>
      <ns0:pic>
        <ns0:nvPicPr>
          <ns0:cNvPr id="9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051560" y="1554480"/>
            <ns1:ext cx="384048" cy="384048"/>
          </ns1:xfrm>
          <ns1:prstGeom prst="rect">
            <ns1:avLst/>
          </ns1:prstGeom>
        </ns0:spPr>
      </ns0:pic>
      <ns0:sp>
        <ns0:nvSpPr>
          <ns0:cNvPr id="10" name="Text 7"/>
          <ns0:cNvSpPr/>
          <ns0:nvPr/>
        </ns0:nvSpPr>
        <ns0:spPr>
          <ns1:xfrm>
            <ns1:off x="1508760" y="1490472"/>
            <ns1:ext cx="32004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대칭키 생성</ns1:t>
            </ns1:r>
            <ns1:endParaRPr lang="en-US" sz="1500" dirty="0"/>
          </ns1:p>
        </ns0:txBody>
      </ns0:sp>
      <ns0:sp>
        <ns0:nvSpPr>
          <ns0:cNvPr id="11" name="Text 8"/>
          <ns0:cNvSpPr/>
          <ns0:nvPr/>
        </ns0:nvSpPr>
        <ns0:spPr>
          <ns1:xfrm>
            <ns1:off x="1508760" y="1828800"/>
            <ns1:ext cx="32004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파일용 임시 키</ns1:t>
            </ns1:r>
            <ns1:endParaRPr lang="en-US" sz="1150" dirty="0"/>
          </ns1:p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/>
            </ns1:r>
            <ns1:endParaRPr lang="en-US" sz="1150" dirty="0"/>
          </ns1:p>
        </ns0:txBody>
      </ns0:sp>
      <ns0:sp>
        <ns0:nvSpPr>
          <ns0:cNvPr id="12" name="Shape 9"/>
          <ns0:cNvSpPr/>
          <ns0:nvPr/>
        </ns0:nvSpPr>
        <ns0:spPr>
          <ns1:xfrm>
            <ns1:off x="320040" y="2496312"/>
            <ns1:ext cx="4572000" cy="960120"/>
          </ns1:xfrm>
          <ns1:prstGeom prst="roundRect">
            <ns1:avLst>
              <ns1:gd name="adj" fmla="val 11429"/>
            </ns1:avLst>
          </ns1:prstGeom>
          <ns1:solidFill>
            <ns1:srgbClr val="0F2033"/>
          </ns1:solidFill>
          <ns1:ln w="19050">
            <ns1:solidFill>
              <ns1:srgbClr val="00E5A0"/>
            </ns1:solidFill>
            <ns1:prstDash val="solid"/>
          </ns1:ln>
        </ns0:spPr>
      </ns0:sp>
      <ns0:sp>
        <ns0:nvSpPr>
          <ns0:cNvPr id="13" name="Shape 10"/>
          <ns0:cNvSpPr/>
          <ns0:nvPr/>
        </ns0:nvSpPr>
        <ns0:spPr>
          <ns1:xfrm>
            <ns1:off x="457200" y="2615184"/>
            <ns1:ext cx="457200" cy="457200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14" name="Text 11"/>
          <ns0:cNvSpPr/>
          <ns0:nvPr/>
        </ns0:nvSpPr>
        <ns0:spPr>
          <ns1:xfrm>
            <ns1:off x="457200" y="2615184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1400" dirty="0"/>
          </ns1:p>
        </ns0:txBody>
      </ns0:sp>
      <ns0:pic>
        <ns0:nvPicPr>
          <ns0:cNvPr id="15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051560" y="2633472"/>
            <ns1:ext cx="384048" cy="384048"/>
          </ns1:xfrm>
          <ns1:prstGeom prst="rect">
            <ns1:avLst/>
          </ns1:prstGeom>
        </ns0:spPr>
      </ns0:pic>
      <ns0:sp>
        <ns0:nvSpPr>
          <ns0:cNvPr id="16" name="Text 12"/>
          <ns0:cNvSpPr/>
          <ns0:nvPr/>
        </ns0:nvSpPr>
        <ns0:spPr>
          <ns1:xfrm>
            <ns1:off x="1508760" y="2569464"/>
            <ns1:ext cx="32004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파일 암호화</ns1:t>
            </ns1:r>
            <ns1:endParaRPr lang="en-US" sz="1500" dirty="0"/>
          </ns1:p>
        </ns0:txBody>
      </ns0:sp>
      <ns0:sp>
        <ns0:nvSpPr>
          <ns0:cNvPr id="17" name="Text 13"/>
          <ns0:cNvSpPr/>
          <ns0:nvPr/>
        </ns0:nvSpPr>
        <ns0:spPr>
          <ns1:xfrm>
            <ns1:off x="1508760" y="2907792"/>
            <ns1:ext cx="32004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대칭키로 빠르게</ns1:t>
            </ns1:r>
            <ns1:endParaRPr lang="en-US" sz="1150" dirty="0"/>
          </ns1:p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데이터 잠금</ns1:t>
            </ns1:r>
            <ns1:endParaRPr lang="en-US" sz="1150" dirty="0"/>
          </ns1:p>
        </ns0:txBody>
      </ns0:sp>
      <ns0:sp>
        <ns0:nvSpPr>
          <ns0:cNvPr id="18" name="Shape 14"/>
          <ns0:cNvSpPr/>
          <ns0:nvPr/>
        </ns0:nvSpPr>
        <ns0:spPr>
          <ns1:xfrm>
            <ns1:off x="320040" y="3575304"/>
            <ns1:ext cx="4572000" cy="960120"/>
          </ns1:xfrm>
          <ns1:prstGeom prst="roundRect">
            <ns1:avLst>
              <ns1:gd name="adj" fmla="val 11429"/>
            </ns1:avLst>
          </ns1:prstGeom>
          <ns1:solidFill>
            <ns1:srgbClr val="0F2033"/>
          </ns1:solidFill>
          <ns1:ln w="19050">
            <ns1:solidFill>
              <ns1:srgbClr val="FF3D8B"/>
            </ns1:solidFill>
            <ns1:prstDash val="solid"/>
          </ns1:ln>
        </ns0:spPr>
      </ns0:sp>
      <ns0:sp>
        <ns0:nvSpPr>
          <ns0:cNvPr id="19" name="Shape 15"/>
          <ns0:cNvSpPr/>
          <ns0:nvPr/>
        </ns0:nvSpPr>
        <ns0:spPr>
          <ns1:xfrm>
            <ns1:off x="457200" y="3694176"/>
            <ns1:ext cx="457200" cy="457200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20" name="Text 16"/>
          <ns0:cNvSpPr/>
          <ns0:nvPr/>
        </ns0:nvSpPr>
        <ns0:spPr>
          <ns1:xfrm>
            <ns1:off x="457200" y="3694176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1400" dirty="0"/>
          </ns1:p>
        </ns0:txBody>
      </ns0:sp>
      <ns0:pic>
        <ns0:nvPicPr>
          <ns0:cNvPr id="21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1051560" y="3712464"/>
            <ns1:ext cx="384048" cy="384048"/>
          </ns1:xfrm>
          <ns1:prstGeom prst="rect">
            <ns1:avLst/>
          </ns1:prstGeom>
        </ns0:spPr>
      </ns0:pic>
      <ns0:sp>
        <ns0:nvSpPr>
          <ns0:cNvPr id="22" name="Text 17"/>
          <ns0:cNvSpPr/>
          <ns0:nvPr/>
        </ns0:nvSpPr>
        <ns0:spPr>
          <ns1:xfrm>
            <ns1:off x="1508760" y="3648456"/>
            <ns1:ext cx="320040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키 암호화</ns1:t>
            </ns1:r>
            <ns1:endParaRPr lang="en-US" sz="1500" dirty="0"/>
          </ns1:p>
        </ns0:txBody>
      </ns0:sp>
      <ns0:sp>
        <ns0:nvSpPr>
          <ns0:cNvPr id="23" name="Text 18"/>
          <ns0:cNvSpPr/>
          <ns0:nvPr/>
        </ns0:nvSpPr>
        <ns0:spPr>
          <ns1:xfrm>
            <ns1:off x="1508760" y="3986784"/>
            <ns1:ext cx="32004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대칭키를</ns1:t>
            </ns1:r>
            <ns1:endParaRPr lang="en-US" sz="1150" dirty="0"/>
          </ns1:p>
          <ns1:p>
            <ns1:pPr indent="0" marL="0">
              <ns1:buNone/>
            </ns1:pPr>
            <ns1:r>
              <ns1:rPr lang="en-US" sz="11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공개키로 잠금</ns1:t>
            </ns1:r>
            <ns1:endParaRPr lang="en-US" sz="1150" dirty="0"/>
          </ns1:p>
        </ns0:txBody>
      </ns0:sp>
      <ns0:sp>
        <ns0:nvSpPr>
          <ns0:cNvPr id="24" name="Shape 19"/>
          <ns0:cNvSpPr/>
          <ns0:nvPr/>
        </ns0:nvSpPr>
        <ns0:spPr>
          <ns1:xfrm>
            <ns1:off x="548640" y="2377440"/>
            <ns1:ext cx="0" cy="164592"/>
          </ns1:xfrm>
          <ns1:prstGeom prst="line">
            <ns1:avLst/>
          </ns1:prstGeom>
          <ns1:noFill/>
          <ns1:ln w="19050">
            <ns1:solidFill>
              <ns1:srgbClr val="00E5A0"/>
            </ns1:solidFill>
            <ns1:prstDash val="solid"/>
          </ns1:ln>
        </ns0:spPr>
      </ns0:sp>
      <ns0:sp>
        <ns0:nvSpPr>
          <ns0:cNvPr id="25" name="Shape 20"/>
          <ns0:cNvSpPr/>
          <ns0:nvPr/>
        </ns0:nvSpPr>
        <ns0:spPr>
          <ns1:xfrm>
            <ns1:off x="548640" y="3456432"/>
            <ns1:ext cx="0" cy="164592"/>
          </ns1:xfrm>
          <ns1:prstGeom prst="line">
            <ns1:avLst/>
          </ns1:prstGeom>
          <ns1:noFill/>
          <ns1:ln w="19050">
            <ns1:solidFill>
              <ns1:srgbClr val="FF3D8B"/>
            </ns1:solidFill>
            <ns1:prstDash val="solid"/>
          </ns1:ln>
        </ns0:spPr>
      </ns0:sp>
      <ns0:sp>
        <ns0:nvSpPr>
          <ns0:cNvPr id="26" name="Shape 21"/>
          <ns0:cNvSpPr/>
          <ns0:nvPr/>
        </ns0:nvSpPr>
        <ns0:spPr>
          <ns1:xfrm>
            <ns1:off x="5120640" y="1417320"/>
            <ns1:ext cx="3703320" cy="3017520"/>
          </ns1:xfrm>
          <ns1:prstGeom prst="roundRect">
            <ns1:avLst>
              <ns1:gd name="adj" fmla="val 4545"/>
            </ns1:avLst>
          </ns1:prstGeom>
          <ns1:solidFill>
            <ns1:srgbClr val="112236"/>
          </ns1:solidFill>
          <ns1:ln w="12700">
            <ns1:solidFill>
              <ns1:srgbClr val="1E4060"/>
            </ns1:solidFill>
            <ns1:prstDash val="solid"/>
          </ns1:ln>
        </ns0:spPr>
      </ns0:sp>
      <ns0:sp>
        <ns0:nvSpPr>
          <ns0:cNvPr id="27" name="Text 22"/>
          <ns0:cNvSpPr/>
          <ns0:nvPr/>
        </ns0:nvSpPr>
        <ns0:spPr>
          <ns1:xfrm>
            <ns1:off x="5257800" y="1508760"/>
            <ns1:ext cx="342900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핵심</ns1:t>
            </ns1:r>
            <ns1:endParaRPr lang="en-US" sz="1500" dirty="0"/>
          </ns1:p>
        </ns0:txBody>
      </ns0:sp>
      <ns0:sp>
        <ns0:nvSpPr>
          <ns0:cNvPr id="28" name="Shape 23"/>
          <ns0:cNvSpPr/>
          <ns0:nvPr/>
        </ns0:nvSpPr>
        <ns0:spPr>
          <ns1:xfrm>
            <ns1:off x="5212080" y="1965960"/>
            <ns1:ext cx="1051560" cy="731520"/>
          </ns1:xfrm>
          <ns1:prstGeom prst="roundRect">
            <ns1:avLst>
              <ns1:gd name="adj" fmla="val 11250"/>
            </ns1:avLst>
          </ns1:prstGeom>
          <ns1:solidFill>
            <ns1:srgbClr val="0F2033"/>
          </ns1:solidFill>
          <ns1:ln w="19050">
            <ns1:solidFill>
              <ns1:srgbClr val="00D4FF"/>
            </ns1:solidFill>
            <ns1:prstDash val="solid"/>
          </ns1:ln>
        </ns0:spPr>
      </ns0:sp>
      <ns0:sp>
        <ns0:nvSpPr>
          <ns0:cNvPr id="29" name="Text 24"/>
          <ns0:cNvSpPr/>
          <ns0:nvPr/>
        </ns0:nvSpPr>
        <ns0:spPr>
          <ns1:xfrm>
            <ns1:off x="5212080" y="2011680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파일</ns1:t>
            </ns1:r>
            <ns1:endParaRPr lang="en-US" sz="1100" dirty="0"/>
          </ns1:p>
        </ns0:txBody>
      </ns0:sp>
      <ns0:sp>
        <ns0:nvSpPr>
          <ns0:cNvPr id="30" name="Text 25"/>
          <ns0:cNvSpPr/>
          <ns0:nvPr/>
        </ns0:nvSpPr>
        <ns0:spPr>
          <ns1:xfrm>
            <ns1:off x="5212080" y="2313432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대칭키로 암호화</ns1:t>
            </ns1:r>
            <ns1:endParaRPr lang="en-US" sz="850" dirty="0"/>
          </ns1:p>
        </ns0:txBody>
      </ns0:sp>
      <ns0:sp>
        <ns0:nvSpPr>
          <ns0:cNvPr id="31" name="Shape 26"/>
          <ns0:cNvSpPr/>
          <ns0:nvPr/>
        </ns0:nvSpPr>
        <ns0:spPr>
          <ns1:xfrm>
            <ns1:off x="6281928" y="2331720"/>
            <ns1:ext cx="182880" cy="0"/>
          </ns1:xfrm>
          <ns1:prstGeom prst="line">
            <ns1:avLst/>
          </ns1:prstGeom>
          <ns1:noFill/>
          <ns1:ln w="19050">
            <ns1:solidFill>
              <ns1:srgbClr val="00D4FF"/>
            </ns1:solidFill>
            <ns1:prstDash val="solid"/>
            <ns1:tailEnd type="triangle"/>
          </ns1:ln>
        </ns0:spPr>
      </ns0:sp>
      <ns0:sp>
        <ns0:nvSpPr>
          <ns0:cNvPr id="32" name="Shape 27"/>
          <ns0:cNvSpPr/>
          <ns0:nvPr/>
        </ns0:nvSpPr>
        <ns0:spPr>
          <ns1:xfrm>
            <ns1:off x="6400800" y="1965960"/>
            <ns1:ext cx="1051560" cy="731520"/>
          </ns1:xfrm>
          <ns1:prstGeom prst="roundRect">
            <ns1:avLst>
              <ns1:gd name="adj" fmla="val 11250"/>
            </ns1:avLst>
          </ns1:prstGeom>
          <ns1:solidFill>
            <ns1:srgbClr val="0F2033"/>
          </ns1:solidFill>
          <ns1:ln w="19050">
            <ns1:solidFill>
              <ns1:srgbClr val="00E5A0"/>
            </ns1:solidFill>
            <ns1:prstDash val="solid"/>
          </ns1:ln>
        </ns0:spPr>
      </ns0:sp>
      <ns0:sp>
        <ns0:nvSpPr>
          <ns0:cNvPr id="33" name="Text 28"/>
          <ns0:cNvSpPr/>
          <ns0:nvPr/>
        </ns0:nvSpPr>
        <ns0:spPr>
          <ns1:xfrm>
            <ns1:off x="6400800" y="2011680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키</ns1:t>
            </ns1:r>
            <ns1:endParaRPr lang="en-US" sz="1100" dirty="0"/>
          </ns1:p>
        </ns0:txBody>
      </ns0:sp>
      <ns0:sp>
        <ns0:nvSpPr>
          <ns0:cNvPr id="34" name="Text 29"/>
          <ns0:cNvSpPr/>
          <ns0:nvPr/>
        </ns0:nvSpPr>
        <ns0:spPr>
          <ns1:xfrm>
            <ns1:off x="6400800" y="2313432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공개키로 보호</ns1:t>
            </ns1:r>
            <ns1:endParaRPr lang="en-US" sz="850" dirty="0"/>
          </ns1:p>
        </ns0:txBody>
      </ns0:sp>
      <ns0:sp>
        <ns0:nvSpPr>
          <ns0:cNvPr id="35" name="Shape 30"/>
          <ns0:cNvSpPr/>
          <ns0:nvPr/>
        </ns0:nvSpPr>
        <ns0:spPr>
          <ns1:xfrm>
            <ns1:off x="7470648" y="2331720"/>
            <ns1:ext cx="182880" cy="0"/>
          </ns1:xfrm>
          <ns1:prstGeom prst="line">
            <ns1:avLst/>
          </ns1:prstGeom>
          <ns1:noFill/>
          <ns1:ln w="19050">
            <ns1:solidFill>
              <ns1:srgbClr val="00E5A0"/>
            </ns1:solidFill>
            <ns1:prstDash val="solid"/>
            <ns1:tailEnd type="triangle"/>
          </ns1:ln>
        </ns0:spPr>
      </ns0:sp>
      <ns0:sp>
        <ns0:nvSpPr>
          <ns0:cNvPr id="36" name="Shape 31"/>
          <ns0:cNvSpPr/>
          <ns0:nvPr/>
        </ns0:nvSpPr>
        <ns0:spPr>
          <ns1:xfrm>
            <ns1:off x="7589520" y="1965960"/>
            <ns1:ext cx="1051560" cy="731520"/>
          </ns1:xfrm>
          <ns1:prstGeom prst="roundRect">
            <ns1:avLst>
              <ns1:gd name="adj" fmla="val 11250"/>
            </ns1:avLst>
          </ns1:prstGeom>
          <ns1:solidFill>
            <ns1:srgbClr val="0F2033"/>
          </ns1:solidFill>
          <ns1:ln w="19050">
            <ns1:solidFill>
              <ns1:srgbClr val="FF3D8B"/>
            </ns1:solidFill>
            <ns1:prstDash val="solid"/>
          </ns1:ln>
        </ns0:spPr>
      </ns0:sp>
      <ns0:sp>
        <ns0:nvSpPr>
          <ns0:cNvPr id="37" name="Text 32"/>
          <ns0:cNvSpPr/>
          <ns0:nvPr/>
        </ns0:nvSpPr>
        <ns0:spPr>
          <ns1:xfrm>
            <ns1:off x="7589520" y="2011680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결과</ns1:t>
            </ns1:r>
            <ns1:endParaRPr lang="en-US" sz="1100" dirty="0"/>
          </ns1:p>
        </ns0:txBody>
      </ns0:sp>
      <ns0:sp>
        <ns0:nvSpPr>
          <ns0:cNvPr id="38" name="Text 33"/>
          <ns0:cNvSpPr/>
          <ns0:nvPr/>
        </ns0:nvSpPr>
        <ns0:spPr>
          <ns1:xfrm>
            <ns1:off x="7589520" y="2313432"/>
            <ns1:ext cx="10515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85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개인키 없이는 복구 불가</ns1:t>
            </ns1:r>
            <ns1:endParaRPr lang="en-US" sz="850" dirty="0"/>
          </ns1:p>
        </ns0:txBody>
      </ns0:sp>
      <ns0:sp>
        <ns0:nvSpPr>
          <ns0:cNvPr id="39" name="Shape 34"/>
          <ns0:cNvSpPr/>
          <ns0:nvPr/>
        </ns0:nvSpPr>
        <ns0:spPr>
          <ns1:xfrm>
            <ns1:off x="5212080" y="2834640"/>
            <ns1:ext cx="3429000" cy="384048"/>
          </ns1:xfrm>
          <ns1:prstGeom prst="roundRect">
            <ns1:avLst>
              <ns1:gd name="adj" fmla="val 19048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40" name="Text 35"/>
          <ns0:cNvSpPr/>
          <ns0:nvPr/>
        </ns0:nvSpPr>
        <ns0:spPr>
          <ns1:xfrm>
            <ns1:off x="5349240" y="2834640"/>
            <ns1:ext cx="324612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속도: 대칭키</ns1:t>
            </ns1:r>
            <ns1:endParaRPr lang="en-US" sz="1150" dirty="0"/>
          </ns1:p>
        </ns0:txBody>
      </ns0:sp>
      <ns0:sp>
        <ns0:nvSpPr>
          <ns0:cNvPr id="41" name="Shape 36"/>
          <ns0:cNvSpPr/>
          <ns0:nvPr/>
        </ns0:nvSpPr>
        <ns0:spPr>
          <ns1:xfrm>
            <ns1:off x="5212080" y="3337560"/>
            <ns1:ext cx="3429000" cy="384048"/>
          </ns1:xfrm>
          <ns1:prstGeom prst="roundRect">
            <ns1:avLst>
              <ns1:gd name="adj" fmla="val 19048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42" name="Text 37"/>
          <ns0:cNvSpPr/>
          <ns0:nvPr/>
        </ns0:nvSpPr>
        <ns0:spPr>
          <ns1:xfrm>
            <ns1:off x="5349240" y="3337560"/>
            <ns1:ext cx="324612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통제: 공개키</ns1:t>
            </ns1:r>
            <ns1:endParaRPr lang="en-US" sz="1150" dirty="0"/>
          </ns1:p>
        </ns0:txBody>
      </ns0:sp>
      <ns0:sp>
        <ns0:nvSpPr>
          <ns0:cNvPr id="43" name="Shape 38"/>
          <ns0:cNvSpPr/>
          <ns0:nvPr/>
        </ns0:nvSpPr>
        <ns0:spPr>
          <ns1:xfrm>
            <ns1:off x="5212080" y="3840480"/>
            <ns1:ext cx="3429000" cy="384048"/>
          </ns1:xfrm>
          <ns1:prstGeom prst="roundRect">
            <ns1:avLst>
              <ns1:gd name="adj" fmla="val 19048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44" name="Text 39"/>
          <ns0:cNvSpPr/>
          <ns0:nvPr/>
        </ns0:nvSpPr>
        <ns0:spPr>
          <ns1:xfrm>
            <ns1:off x="5349240" y="3840480"/>
            <ns1:ext cx="324612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복구 조건: 개인키</ns1:t>
            </ns1:r>
            <ns1:endParaRPr lang="en-US" sz="1150" dirty="0"/>
          </ns1:p>
        </ns0:txBody>
      </ns0:sp>
      <ns0:sp>
        <ns0:nvSpPr>
          <ns0:cNvPr id="45" name="Shape 40"/>
          <ns0:cNvSpPr/>
          <ns0:nvPr/>
        </ns0:nvSpPr>
        <ns0:spPr>
          <ns1:xfrm>
            <ns1:off x="320040" y="4663440"/>
            <ns1:ext cx="8503920" cy="274320"/>
          </ns1:xfrm>
          <ns1:prstGeom prst="roundRect">
            <ns1:avLst>
              <ns1:gd name="adj" fmla="val 20000"/>
            </ns1:avLst>
          </ns1:prstGeom>
          <ns1:solidFill>
            <ns1:srgbClr val="000000"/>
          </ns1:solidFill>
          <ns1:ln w="12700">
            <ns1:solidFill>
              <ns1:srgbClr val="000000"/>
            </ns1:solidFill>
            <ns1:prstDash val="solid"/>
          </ns1:ln>
        </ns0:spPr>
      </ns0:sp>
      <ns0:sp>
        <ns0:nvSpPr>
          <ns0:cNvPr id="46" name="Text 41"/>
          <ns0:cNvSpPr/>
          <ns0:nvPr/>
        </ns0:nvSpPr>
        <ns0:spPr>
          <ns1:xfrm>
            <ns1:off x="320040" y="4663440"/>
            <ns1:ext cx="8503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/>
            </ns1:r>
            <ns1:endParaRPr lang="en-US" sz="1050" dirty="0"/>
          </ns1:p>
        </ns0:txBody>
      </ns0:sp>
      <ns0:sp>
        <ns0:nvSpPr>
          <ns0:cNvPr id="47" name="Text 42"/>
          <ns0:cNvSpPr/>
          <ns0:nvPr/>
        </ns0:nvSpPr>
        <ns0:spPr>
          <ns1:xfrm>
            <ns1:off x="8138160" y="4892040"/>
            <ns1:ext cx="82296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 / 7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흐름: 하이브리드 암호화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대칭키의 속도와 공개키의 키 보호 기능을 섞은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0F2033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파일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평문 데이터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50876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0F2033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 암호화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50876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 암호화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508760"/>
            <a:ext cx="1691640" cy="1005840"/>
          </a:xfrm>
          <a:prstGeom prst="roundRect">
            <a:avLst>
              <a:gd name="adj" fmla="val 10909"/>
            </a:avLst>
          </a:prstGeom>
          <a:solidFill>
            <a:srgbClr val="0F2033"/>
          </a:solidFill>
          <a:ln w="25400">
            <a:solidFill>
              <a:srgbClr val="FF3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암호문 파일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읽기 어려움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84248" y="2011680"/>
            <a:ext cx="91440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13048" y="2011680"/>
            <a:ext cx="91440" cy="0"/>
          </a:xfrm>
          <a:prstGeom prst="line">
            <a:avLst/>
          </a:prstGeom>
          <a:noFill/>
          <a:ln w="31750">
            <a:solidFill>
              <a:srgbClr val="FF3D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48940" y="2514600"/>
            <a:ext cx="0" cy="457200"/>
          </a:xfrm>
          <a:prstGeom prst="line">
            <a:avLst/>
          </a:prstGeom>
          <a:noFill/>
          <a:ln w="31750">
            <a:solidFill>
              <a:srgbClr val="00E5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297180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잠근 대칭키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암호화 완료, 피해자 접근 불가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98848" y="3429000"/>
            <a:ext cx="201168" cy="0"/>
          </a:xfrm>
          <a:prstGeom prst="line">
            <a:avLst/>
          </a:prstGeom>
          <a:noFill/>
          <a:ln w="31750">
            <a:solidFill>
              <a:srgbClr val="FF3D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297180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8B0034"/>
          </a:solidFill>
          <a:ln w="25400">
            <a:solidFill>
              <a:srgbClr val="FF3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0815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공개키로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3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잠긴 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417320"/>
            <a:ext cx="2834640" cy="2103120"/>
          </a:xfrm>
          <a:prstGeom prst="roundRect">
            <a:avLst>
              <a:gd name="adj" fmla="val 5217"/>
            </a:avLst>
          </a:prstGeom>
          <a:solidFill>
            <a:srgbClr val="0F2033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2743200" cy="20116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43600" y="365760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076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복호화 조건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파일을 풀려면 원래 대칭키가 필요하다.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잠긴 키를 풀 개인키가 없으면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복구가 어려워진다.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0040" y="48920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원리 설명용 슬라이드이며, 악성코드 제작 방법을 다루지 않는다.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35040" y="48920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데이터 → 대칭키 / 대칭키 → 공개키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138160" y="48920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7">
    <ns0:bg>
      <ns0:bgPr>
        <ns1:solidFill>
          <ns1:srgbClr val="0D1B2A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914400"/>
          </ns1:xfrm>
          <ns1:prstGeom prst="rect">
            <ns1:avLst/>
          </ns1:prstGeom>
          <ns1:solidFill>
            <ns1:srgbClr val="112236"/>
          </ns1:solidFill>
          <ns1:ln w="12700">
            <ns1:solidFill>
              <ns1:srgbClr val="112236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320040" y="109728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06</ns1:t>
            </ns1:r>
            <ns1:endParaRPr lang="en-US" sz="11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320040" y="411480"/>
            <ns1:ext cx="8229600" cy="4114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2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마무리: 역할 분리가 핵심</ns1:t>
            </ns1:r>
            <ns1:endParaRPr lang="en-US" sz="2200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320040" y="1051560"/>
            <ns1:ext cx="77724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8899AA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기술의 우열보다 역할 배치가 결과를 만든다</ns1:t>
            </ns1:r>
            <ns1:endParaRPr lang="en-US" sz="1200" dirty="0"/>
          </ns1:p>
        </ns0:txBody>
      </ns0:sp>
      <ns0:sp>
        <ns0:nvSpPr>
          <ns0:cNvPr id="6" name="Shape 4"/>
          <ns0:cNvSpPr/>
          <ns0:nvPr/>
        </ns0:nvSpPr>
        <ns0:spPr>
          <ns1:xfrm>
            <ns1:off x="320040" y="1417320"/>
            <ns1:ext cx="5303520" cy="1143000"/>
          </ns1:xfrm>
          <ns1:prstGeom prst="roundRect">
            <ns1:avLst>
              <ns1:gd name="adj" fmla="val 12000"/>
            </ns1:avLst>
          </ns1:prstGeom>
          <ns1:solidFill>
            <ns1:srgbClr val="0F2033"/>
          </ns1:solidFill>
          <ns1:ln w="25400">
            <ns1:solidFill>
              <ns1:srgbClr val="00D4FF"/>
            </ns1:solidFill>
            <ns1:prstDash val="solid"/>
          </ns1:ln>
        </ns0:spPr>
      </ns0:sp>
      <ns0:sp>
        <ns0:nvSpPr>
          <ns0:cNvPr id="7" name="Text 5"/>
          <ns0:cNvSpPr/>
          <ns0:nvPr/>
        </ns0:nvSpPr>
        <ns0:spPr>
          <ns1:xfrm>
            <ns1:off x="502920" y="1490472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00D4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핵심 정리</ns1:t>
            </ns1:r>
            <ns1:endParaRPr lang="en-US" sz="12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502920" y="1801368"/>
            <ns1:ext cx="4937760" cy="6583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7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파일은 대칭키,</ns1:t>
            </ns1:r>
            <ns1:endParaRPr lang="en-US" sz="1700" dirty="0"/>
          </ns1:p>
          <ns1:p>
            <ns1:pPr indent="0" marL="0">
              <ns1:buNone/>
            </ns1:pPr>
            <ns1:r>
              <ns1:rPr lang="en-US" sz="17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키는 공개키.</ns1:t>
            </ns1:r>
            <ns1:endParaRPr lang="en-US" sz="17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320040" y="2743200"/>
            <ns1:ext cx="1645920" cy="2011680"/>
          </ns1:xfrm>
          <ns1:prstGeom prst="roundRect">
            <ns1:avLst>
              <ns1:gd name="adj" fmla="val 6667"/>
            </ns1:avLst>
          </ns1:prstGeom>
          <ns1:solidFill>
            <ns1:srgbClr val="0F2033"/>
          </ns1:solidFill>
          <ns1:ln w="19050">
            <ns1:solidFill>
              <ns1:srgbClr val="00E5A0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>
            <ns1:off x="777240" y="283464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00E5A0"/>
            </ns1:solidFill>
            <ns1:prstDash val="solid"/>
          </ns1:ln>
        </ns0:spPr>
      </ns0:sp>
      <ns0:pic>
        <ns0:nvPicPr>
          <ns0:cNvPr id="11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886968" y="2944368"/>
            <ns1:ext cx="512064" cy="512064"/>
          </ns1:xfrm>
          <ns1:prstGeom prst="rect">
            <ns1:avLst/>
          </ns1:prstGeom>
        </ns0:spPr>
      </ns0:pic>
      <ns0:sp>
        <ns0:nvSpPr>
          <ns0:cNvPr id="12" name="Text 9"/>
          <ns0:cNvSpPr/>
          <ns0:nvPr/>
        </ns0:nvSpPr>
        <ns0:spPr>
          <ns1:xfrm>
            <ns1:off x="320040" y="3657600"/>
            <ns1:ext cx="1645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0E5A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결론</ns1:t>
            </ns1:r>
            <ns1:endParaRPr lang="en-US" sz="120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411480" y="3950208"/>
            <ns1:ext cx="146304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속도는 대칭키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통제는 공개키</ns1:t>
            </ns1:r>
            <ns1:endParaRPr lang="en-US" sz="1050" dirty="0"/>
          </ns1:p>
        </ns0:txBody>
      </ns0:sp>
      <ns0:sp>
        <ns0:nvSpPr>
          <ns0:cNvPr id="14" name="Shape 11"/>
          <ns0:cNvSpPr/>
          <ns0:nvPr/>
        </ns0:nvSpPr>
        <ns0:spPr>
          <ns1:xfrm>
            <ns1:off x="2148840" y="2743200"/>
            <ns1:ext cx="1645920" cy="2011680"/>
          </ns1:xfrm>
          <ns1:prstGeom prst="roundRect">
            <ns1:avLst>
              <ns1:gd name="adj" fmla="val 6667"/>
            </ns1:avLst>
          </ns1:prstGeom>
          <ns1:solidFill>
            <ns1:srgbClr val="0F2033"/>
          </ns1:solidFill>
          <ns1:ln w="19050">
            <ns1:solidFill>
              <ns1:srgbClr val="FF3D8B"/>
            </ns1:solidFill>
            <ns1:prstDash val="solid"/>
          </ns1:ln>
        </ns0:spPr>
      </ns0:sp>
      <ns0:sp>
        <ns0:nvSpPr>
          <ns0:cNvPr id="15" name="Shape 12"/>
          <ns0:cNvSpPr/>
          <ns0:nvPr/>
        </ns0:nvSpPr>
        <ns0:spPr>
          <ns1:xfrm>
            <ns1:off x="2606040" y="283464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FF3D8B"/>
            </ns1:solidFill>
            <ns1:prstDash val="solid"/>
          </ns1:ln>
        </ns0:spPr>
      </ns0:sp>
      <ns0:pic>
        <ns0:nvPicPr>
          <ns0:cNvPr id="16" name="Image 1" descr="preencoded.png">    </ns0:cNvPr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2715768" y="2944368"/>
            <ns1:ext cx="512064" cy="512064"/>
          </ns1:xfrm>
          <ns1:prstGeom prst="rect">
            <ns1:avLst/>
          </ns1:prstGeom>
        </ns0:spPr>
      </ns0:pic>
      <ns0:sp>
        <ns0:nvSpPr>
          <ns0:cNvPr id="17" name="Text 13"/>
          <ns0:cNvSpPr/>
          <ns0:nvPr/>
        </ns0:nvSpPr>
        <ns0:spPr>
          <ns1:xfrm>
            <ns1:off x="2148840" y="3657600"/>
            <ns1:ext cx="1645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3D8B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한 줄 요약</ns1:t>
            </ns1:r>
            <ns1:endParaRPr lang="en-US" sz="1200" dirty="0"/>
          </ns1:p>
        </ns0:txBody>
      </ns0:sp>
      <ns0:sp>
        <ns0:nvSpPr>
          <ns0:cNvPr id="18" name="Text 14"/>
          <ns0:cNvSpPr/>
          <ns0:nvPr/>
        </ns0:nvSpPr>
        <ns0:spPr>
          <ns1:xfrm>
            <ns1:off x="2240280" y="3950208"/>
            <ns1:ext cx="146304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하이브리드 암호화 =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역할 분리 설계</ns1:t>
            </ns1:r>
            <ns1:endParaRPr lang="en-US" sz="1050" dirty="0"/>
          </ns1:p>
        </ns0:txBody>
      </ns0:sp>
      <ns0:sp>
        <ns0:nvSpPr>
          <ns0:cNvPr id="19" name="Shape 15"/>
          <ns0:cNvSpPr/>
          <ns0:nvPr/>
        </ns0:nvSpPr>
        <ns0:spPr>
          <ns1:xfrm>
            <ns1:off x="3977640" y="2743200"/>
            <ns1:ext cx="1645920" cy="2011680"/>
          </ns1:xfrm>
          <ns1:prstGeom prst="roundRect">
            <ns1:avLst>
              <ns1:gd name="adj" fmla="val 6667"/>
            </ns1:avLst>
          </ns1:prstGeom>
          <ns1:solidFill>
            <ns1:srgbClr val="0F2033"/>
          </ns1:solidFill>
          <ns1:ln w="19050">
            <ns1:solidFill>
              <ns1:srgbClr val="FFB830"/>
            </ns1:solidFill>
            <ns1:prstDash val="solid"/>
          </ns1:ln>
        </ns0:spPr>
      </ns0:sp>
      <ns0:sp>
        <ns0:nvSpPr>
          <ns0:cNvPr id="20" name="Shape 16"/>
          <ns0:cNvSpPr/>
          <ns0:nvPr/>
        </ns0:nvSpPr>
        <ns0:spPr>
          <ns1:xfrm>
            <ns1:off x="4434840" y="2834640"/>
            <ns1:ext cx="731520" cy="731520"/>
          </ns1:xfrm>
          <ns1:prstGeom prst="ellipse">
            <ns1:avLst/>
          </ns1:prstGeom>
          <ns1:solidFill>
            <ns1:srgbClr val="000000"/>
          </ns1:solidFill>
          <ns1:ln w="12700">
            <ns1:solidFill>
              <ns1:srgbClr val="FFB830"/>
            </ns1:solidFill>
            <ns1:prstDash val="solid"/>
          </ns1:ln>
        </ns0:spPr>
      </ns0:sp>
      <ns0:pic>
        <ns0:nvPicPr>
          <ns0:cNvPr id="21" name="Image 2" descr="preencoded.png">    </ns0:cNvPr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4544568" y="2944368"/>
            <ns1:ext cx="512064" cy="512064"/>
          </ns1:xfrm>
          <ns1:prstGeom prst="rect">
            <ns1:avLst/>
          </ns1:prstGeom>
        </ns0:spPr>
      </ns0:pic>
      <ns0:sp>
        <ns0:nvSpPr>
          <ns0:cNvPr id="22" name="Text 17"/>
          <ns0:cNvSpPr/>
          <ns0:nvPr/>
        </ns0:nvSpPr>
        <ns0:spPr>
          <ns1:xfrm>
            <ns1:off x="3977640" y="3657600"/>
            <ns1:ext cx="164592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B83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발표 마무리</ns1:t>
            </ns1:r>
            <ns1:endParaRPr lang="en-US" sz="1200" dirty="0"/>
          </ns1:p>
        </ns0:txBody>
      </ns0:sp>
      <ns0:sp>
        <ns0:nvSpPr>
          <ns0:cNvPr id="23" name="Text 18"/>
          <ns0:cNvSpPr/>
          <ns0:nvPr/>
        </ns0:nvSpPr>
        <ns0:spPr>
          <ns1:xfrm>
            <ns1:off x="4069080" y="3950208"/>
            <ns1:ext cx="146304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 잠금: 대칭키</ns1:t>
            </ns1:r>
            <ns1:endParaRPr lang="en-US" sz="1050" dirty="0"/>
          </ns1:p>
          <ns1:p>
            <ns1:pPr algn="ctr" indent="0" marL="0">
              <ns1:buNone/>
            </ns1:pPr>
            <ns1:r>
              <ns1:rPr lang="en-US" sz="105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키 잠금: 공개키</ns1:t>
            </ns1:r>
            <ns1:endParaRPr lang="en-US" sz="1050" dirty="0"/>
          </ns1:p>
        </ns0:txBody>
      </ns0:sp>
      <ns0:sp>
        <ns0:nvSpPr>
          <ns0:cNvPr id="24" name="Shape 19"/>
          <ns0:cNvSpPr/>
          <ns0:nvPr/>
        </ns0:nvSpPr>
        <ns0:spPr>
          <ns1:xfrm>
            <ns1:off x="5669280" y="1417320"/>
            <ns1:ext cx="3154680" cy="3337560"/>
          </ns1:xfrm>
          <ns1:prstGeom prst="roundRect">
            <ns1:avLst>
              <ns1:gd name="adj" fmla="val 4348"/>
            </ns1:avLst>
          </ns1:prstGeom>
          <ns1:solidFill>
            <ns1:srgbClr val="112236"/>
          </ns1:solidFill>
          <ns1:ln w="12700">
            <ns1:solidFill>
              <ns1:srgbClr val="1E4060"/>
            </ns1:solidFill>
            <ns1:prstDash val="solid"/>
          </ns1:ln>
        </ns0:spPr>
      </ns0:sp>
      <ns0:sp>
        <ns0:nvSpPr>
          <ns0:cNvPr id="25" name="Text 20"/>
          <ns0:cNvSpPr/>
          <ns0:nvPr/>
        </ns0:nvSpPr>
        <ns0:spPr>
          <ns1:xfrm>
            <ns1:off x="5806440" y="1508760"/>
            <ns1:ext cx="283464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복구 조건: 개인키</ns1:t>
            </ns1:r>
            <ns1:endParaRPr lang="en-US" sz="1300" dirty="0"/>
          </ns1:p>
        </ns0:txBody>
      </ns0:sp>
      <ns0:sp>
        <ns0:nvSpPr>
          <ns0:cNvPr id="26" name="Shape 21"/>
          <ns0:cNvSpPr/>
          <ns0:nvPr/>
        </ns0:nvSpPr>
        <ns0:spPr>
          <ns1:xfrm>
            <ns1:off x="5806440" y="1920240"/>
            <ns1:ext cx="365760" cy="365760"/>
          </ns1:xfrm>
          <ns1:prstGeom prst="ellipse">
            <ns1:avLst/>
          </ns1:prstGeom>
          <ns1:solidFill>
            <ns1:srgbClr val="00D4FF"/>
          </ns1:solidFill>
          <ns1:ln w="12700">
            <ns1:solidFill>
              <ns1:srgbClr val="00D4FF"/>
            </ns1:solidFill>
            <ns1:prstDash val="solid"/>
          </ns1:ln>
        </ns0:spPr>
      </ns0:sp>
      <ns0:sp>
        <ns0:nvSpPr>
          <ns0:cNvPr id="27" name="Text 22"/>
          <ns0:cNvSpPr/>
          <ns0:nvPr/>
        </ns0:nvSpPr>
        <ns0:spPr>
          <ns1:xfrm>
            <ns1:off x="5806440" y="1920240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1200" dirty="0"/>
          </ns1:p>
        </ns0:txBody>
      </ns0:sp>
      <ns0:sp>
        <ns0:nvSpPr>
          <ns0:cNvPr id="28" name="Text 23"/>
          <ns0:cNvSpPr/>
          <ns0:nvPr/>
        </ns0:nvSpPr>
        <ns0:spPr>
          <ns1:xfrm>
            <ns1:off x="6263640" y="1938528"/>
            <ns1:ext cx="242316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파일 암호화</ns1:t>
            </ns1:r>
            <ns1:endParaRPr lang="en-US" sz="1200" dirty="0"/>
          </ns1:p>
        </ns0:txBody>
      </ns0:sp>
      <ns0:sp>
        <ns0:nvSpPr>
          <ns0:cNvPr id="29" name="Shape 24"/>
          <ns0:cNvSpPr/>
          <ns0:nvPr/>
        </ns0:nvSpPr>
        <ns0:spPr>
          <ns1:xfrm>
            <ns1:off x="5989320" y="2286000"/>
            <ns1:ext cx="0" cy="347472"/>
          </ns1:xfrm>
          <ns1:prstGeom prst="line">
            <ns1:avLst/>
          </ns1:prstGeom>
          <ns1:noFill/>
          <ns1:ln w="19050">
            <ns1:solidFill>
              <ns1:srgbClr val="000000"/>
            </ns1:solidFill>
            <ns1:prstDash val="solid"/>
          </ns1:ln>
        </ns0:spPr>
      </ns0:sp>
      <ns0:sp>
        <ns0:nvSpPr>
          <ns0:cNvPr id="30" name="Shape 25"/>
          <ns0:cNvSpPr/>
          <ns0:nvPr/>
        </ns0:nvSpPr>
        <ns0:spPr>
          <ns1:xfrm>
            <ns1:off x="5806440" y="2633472"/>
            <ns1:ext cx="365760" cy="365760"/>
          </ns1:xfrm>
          <ns1:prstGeom prst="ellipse">
            <ns1:avLst/>
          </ns1:prstGeom>
          <ns1:solidFill>
            <ns1:srgbClr val="00E5A0"/>
          </ns1:solidFill>
          <ns1:ln w="12700">
            <ns1:solidFill>
              <ns1:srgbClr val="00E5A0"/>
            </ns1:solidFill>
            <ns1:prstDash val="solid"/>
          </ns1:ln>
        </ns0:spPr>
      </ns0:sp>
      <ns0:sp>
        <ns0:nvSpPr>
          <ns0:cNvPr id="31" name="Text 26"/>
          <ns0:cNvSpPr/>
          <ns0:nvPr/>
        </ns0:nvSpPr>
        <ns0:spPr>
          <ns1:xfrm>
            <ns1:off x="5806440" y="2633472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1200" dirty="0"/>
          </ns1:p>
        </ns0:txBody>
      </ns0:sp>
      <ns0:sp>
        <ns0:nvSpPr>
          <ns0:cNvPr id="32" name="Text 27"/>
          <ns0:cNvSpPr/>
          <ns0:nvPr/>
        </ns0:nvSpPr>
        <ns0:spPr>
          <ns1:xfrm>
            <ns1:off x="6263640" y="2651760"/>
            <ns1:ext cx="242316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키 암호화</ns1:t>
            </ns1:r>
            <ns1:endParaRPr lang="en-US" sz="1200" dirty="0"/>
          </ns1:p>
        </ns0:txBody>
      </ns0:sp>
      <ns0:sp>
        <ns0:nvSpPr>
          <ns0:cNvPr id="33" name="Shape 28"/>
          <ns0:cNvSpPr/>
          <ns0:nvPr/>
        </ns0:nvSpPr>
        <ns0:spPr>
          <ns1:xfrm>
            <ns1:off x="5989320" y="2999232"/>
            <ns1:ext cx="0" cy="347472"/>
          </ns1:xfrm>
          <ns1:prstGeom prst="line">
            <ns1:avLst/>
          </ns1:prstGeom>
          <ns1:noFill/>
          <ns1:ln w="19050">
            <ns1:solidFill>
              <ns1:srgbClr val="000000"/>
            </ns1:solidFill>
            <ns1:prstDash val="solid"/>
          </ns1:ln>
        </ns0:spPr>
      </ns0:sp>
      <ns0:sp>
        <ns0:nvSpPr>
          <ns0:cNvPr id="34" name="Shape 29"/>
          <ns0:cNvSpPr/>
          <ns0:nvPr/>
        </ns0:nvSpPr>
        <ns0:spPr>
          <ns1:xfrm>
            <ns1:off x="5806440" y="3346704"/>
            <ns1:ext cx="365760" cy="365760"/>
          </ns1:xfrm>
          <ns1:prstGeom prst="ellipse">
            <ns1:avLst/>
          </ns1:prstGeom>
          <ns1:solidFill>
            <ns1:srgbClr val="FF3D8B"/>
          </ns1:solidFill>
          <ns1:ln w="12700">
            <ns1:solidFill>
              <ns1:srgbClr val="FF3D8B"/>
            </ns1:solidFill>
            <ns1:prstDash val="solid"/>
          </ns1:ln>
        </ns0:spPr>
      </ns0:sp>
      <ns0:sp>
        <ns0:nvSpPr>
          <ns0:cNvPr id="35" name="Text 30"/>
          <ns0:cNvSpPr/>
          <ns0:nvPr/>
        </ns0:nvSpPr>
        <ns0:spPr>
          <ns1:xfrm>
            <ns1:off x="5806440" y="3346704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1200" dirty="0"/>
          </ns1:p>
        </ns0:txBody>
      </ns0:sp>
      <ns0:sp>
        <ns0:nvSpPr>
          <ns0:cNvPr id="36" name="Text 31"/>
          <ns0:cNvSpPr/>
          <ns0:nvPr/>
        </ns0:nvSpPr>
        <ns0:spPr>
          <ns1:xfrm>
            <ns1:off x="6263640" y="3364992"/>
            <ns1:ext cx="242316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복구 통제</ns1:t>
            </ns1:r>
            <ns1:endParaRPr lang="en-US" sz="1200" dirty="0"/>
          </ns1:p>
        </ns0:txBody>
      </ns0:sp>
      <ns0:sp>
        <ns0:nvSpPr>
          <ns0:cNvPr id="37" name="Shape 32"/>
          <ns0:cNvSpPr/>
          <ns0:nvPr/>
        </ns0:nvSpPr>
        <ns0:spPr>
          <ns1:xfrm>
            <ns1:off x="5989320" y="3712464"/>
            <ns1:ext cx="0" cy="347472"/>
          </ns1:xfrm>
          <ns1:prstGeom prst="line">
            <ns1:avLst/>
          </ns1:prstGeom>
          <ns1:noFill/>
          <ns1:ln w="19050">
            <ns1:solidFill>
              <ns1:srgbClr val="000000"/>
            </ns1:solidFill>
            <ns1:prstDash val="solid"/>
          </ns1:ln>
        </ns0:spPr>
      </ns0:sp>
      <ns0:sp>
        <ns0:nvSpPr>
          <ns0:cNvPr id="38" name="Shape 33"/>
          <ns0:cNvSpPr/>
          <ns0:nvPr/>
        </ns0:nvSpPr>
        <ns0:spPr>
          <ns1:xfrm>
            <ns1:off x="5806440" y="4059936"/>
            <ns1:ext cx="365760" cy="365760"/>
          </ns1:xfrm>
          <ns1:prstGeom prst="ellipse">
            <ns1:avLst/>
          </ns1:prstGeom>
          <ns1:solidFill>
            <ns1:srgbClr val="FFB830"/>
          </ns1:solidFill>
          <ns1:ln w="12700">
            <ns1:solidFill>
              <ns1:srgbClr val="FFB830"/>
            </ns1:solidFill>
            <ns1:prstDash val="solid"/>
          </ns1:ln>
        </ns0:spPr>
      </ns0:sp>
      <ns0:sp>
        <ns0:nvSpPr>
          <ns0:cNvPr id="39" name="Text 34"/>
          <ns0:cNvSpPr/>
          <ns0:nvPr/>
        </ns0:nvSpPr>
        <ns0:spPr>
          <ns1:xfrm>
            <ns1:off x="5806440" y="4059936"/>
            <ns1:ext cx="36576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0D1B2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</ns1:t>
            </ns1:r>
            <ns1:endParaRPr lang="en-US" sz="1200" dirty="0"/>
          </ns1:p>
        </ns0:txBody>
      </ns0:sp>
      <ns0:sp>
        <ns0:nvSpPr>
          <ns0:cNvPr id="40" name="Text 35"/>
          <ns0:cNvSpPr/>
          <ns0:nvPr/>
        </ns0:nvSpPr>
        <ns0:spPr>
          <ns1:xfrm>
            <ns1:off x="6263640" y="4078224"/>
            <ns1:ext cx="2423160" cy="3474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B0C4D8"/>
                </ns1:solidFill>
                <ns1:latin typeface="Calibri Light" pitchFamily="34" charset="0"/>
                <ns1:ea typeface="Calibri Light" pitchFamily="34" charset="-122"/>
                <ns1:cs typeface="Calibri Light" pitchFamily="34" charset="-120"/>
              </ns1:rPr>
              <ns1:t>설계가 보안을 완성</ns1:t>
            </ns1:r>
            <ns1:endParaRPr lang="en-US" sz="1200" dirty="0"/>
          </ns1:p>
        </ns0:txBody>
      </ns0:sp>
      <ns0:sp>
        <ns0:nvSpPr>
          <ns0:cNvPr id="41" name="Text 36"/>
          <ns0:cNvSpPr/>
          <ns0:nvPr/>
        </ns0:nvSpPr>
        <ns0:spPr>
          <ns1:xfrm>
            <ns1:off x="8138160" y="4892040"/>
            <ns1:ext cx="822960" cy="1828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8899AA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7 / 7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랜섬웨어 암호화 구조</dc:title>
  <dc:subject>PptxGenJS Presentation</dc:subject>
  <dc:creator>PptxGenJS</dc:creator>
  <cp:lastModifiedBy>PptxGenJS</cp:lastModifiedBy>
  <cp:revision>1</cp:revision>
  <dcterms:created xsi:type="dcterms:W3CDTF">2026-05-26T00:45:58Z</dcterms:created>
  <dcterms:modified xsi:type="dcterms:W3CDTF">2026-05-26T00:45:58Z</dcterms:modified>
</cp:coreProperties>
</file>